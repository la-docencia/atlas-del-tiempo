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185279df0f4322" /><Relationship Type="http://schemas.openxmlformats.org/officeDocument/2006/relationships/extended-properties" Target="/docProps/app.xml" Id="Rb5b24becdb984c26" /><Relationship Type="http://schemas.openxmlformats.org/officeDocument/2006/relationships/officeDocument" Target="/ppt/presentation.xml" Id="R1c162121d71f4f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8d08f7552d4ead"/>
  </p:sldMasterIdLst>
  <p:notesMasterIdLst>
    <p:notesMasterId xmlns:r="http://schemas.openxmlformats.org/officeDocument/2006/relationships" r:id="Rcebaf76815974568"/>
  </p:notesMasterIdLst>
  <p:sldIdLst>
    <p:sldId xmlns:r="http://schemas.openxmlformats.org/officeDocument/2006/relationships" id="256" r:id="R8ea34e9f7b75450f"/>
    <p:sldId xmlns:r="http://schemas.openxmlformats.org/officeDocument/2006/relationships" id="257" r:id="R508f9ecc8e8b4236"/>
    <p:sldId xmlns:r="http://schemas.openxmlformats.org/officeDocument/2006/relationships" id="258" r:id="R59a8b2706a0e4b52"/>
    <p:sldId xmlns:r="http://schemas.openxmlformats.org/officeDocument/2006/relationships" id="259" r:id="R3b57ddf42b2d47f1"/>
    <p:sldId xmlns:r="http://schemas.openxmlformats.org/officeDocument/2006/relationships" id="260" r:id="R8fe71c0f24aa4094"/>
    <p:sldId xmlns:r="http://schemas.openxmlformats.org/officeDocument/2006/relationships" id="261" r:id="Re656d42447494e16"/>
    <p:sldId xmlns:r="http://schemas.openxmlformats.org/officeDocument/2006/relationships" id="262" r:id="Rfdba5f6dfd35490a"/>
    <p:sldId xmlns:r="http://schemas.openxmlformats.org/officeDocument/2006/relationships" id="263" r:id="R5815281d6f1f4f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5924956fb045c0" /><Relationship Type="http://schemas.openxmlformats.org/officeDocument/2006/relationships/slideMaster" Target="/ppt/slideMasters/slideMaster1.xml" Id="R948d08f7552d4ead" /><Relationship Type="http://schemas.openxmlformats.org/officeDocument/2006/relationships/notesMaster" Target="/ppt/notesMasters/notesMaster1.xml" Id="Rcebaf76815974568" /><Relationship Type="http://schemas.openxmlformats.org/officeDocument/2006/relationships/presProps" Target="/ppt/presProps.xml" Id="R82393f62020f4d3c" /><Relationship Type="http://schemas.openxmlformats.org/officeDocument/2006/relationships/tableStyles" Target="/ppt/tableStyles.xml" Id="R61e7073028a14ce1" /><Relationship Type="http://schemas.openxmlformats.org/officeDocument/2006/relationships/slide" Target="/ppt/slides/slide1.xml" Id="R8ea34e9f7b75450f" /><Relationship Type="http://schemas.openxmlformats.org/officeDocument/2006/relationships/slide" Target="/ppt/slides/slide2.xml" Id="R508f9ecc8e8b4236" /><Relationship Type="http://schemas.openxmlformats.org/officeDocument/2006/relationships/slide" Target="/ppt/slides/slide3.xml" Id="R59a8b2706a0e4b52" /><Relationship Type="http://schemas.openxmlformats.org/officeDocument/2006/relationships/slide" Target="/ppt/slides/slide4.xml" Id="R3b57ddf42b2d47f1" /><Relationship Type="http://schemas.openxmlformats.org/officeDocument/2006/relationships/slide" Target="/ppt/slides/slide5.xml" Id="R8fe71c0f24aa4094" /><Relationship Type="http://schemas.openxmlformats.org/officeDocument/2006/relationships/slide" Target="/ppt/slides/slide6.xml" Id="Re656d42447494e16" /><Relationship Type="http://schemas.openxmlformats.org/officeDocument/2006/relationships/slide" Target="/ppt/slides/slide7.xml" Id="Rfdba5f6dfd35490a" /><Relationship Type="http://schemas.openxmlformats.org/officeDocument/2006/relationships/slide" Target="/ppt/slides/slide8.xml" Id="R5815281d6f1f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f827d69bbc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8baa1dd1a441cf" /><Relationship Type="http://schemas.openxmlformats.org/officeDocument/2006/relationships/notesMaster" Target="/ppt/notesMasters/notesMaster1.xml" Id="R66e4e1e1c07c4d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7840015c0c4adb" /><Relationship Type="http://schemas.openxmlformats.org/officeDocument/2006/relationships/notesMaster" Target="/ppt/notesMasters/notesMaster1.xml" Id="Rbc5ab70298794b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ecd08ed5914cbb" /><Relationship Type="http://schemas.openxmlformats.org/officeDocument/2006/relationships/notesMaster" Target="/ppt/notesMasters/notesMaster1.xml" Id="R98f38ae6c0474c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b1557d43ed4297" /><Relationship Type="http://schemas.openxmlformats.org/officeDocument/2006/relationships/notesMaster" Target="/ppt/notesMasters/notesMaster1.xml" Id="Rccf552fcc2dc41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4f1f5d15a34cc2" /><Relationship Type="http://schemas.openxmlformats.org/officeDocument/2006/relationships/notesMaster" Target="/ppt/notesMasters/notesMaster1.xml" Id="R704c3724f8c342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0151ecfbc943e8" /><Relationship Type="http://schemas.openxmlformats.org/officeDocument/2006/relationships/notesMaster" Target="/ppt/notesMasters/notesMaster1.xml" Id="R7c6555779ab34f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e1364f5c4044cc" /><Relationship Type="http://schemas.openxmlformats.org/officeDocument/2006/relationships/notesMaster" Target="/ppt/notesMasters/notesMaster1.xml" Id="R8dfe9dac21a844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f42638fd674adb" /><Relationship Type="http://schemas.openxmlformats.org/officeDocument/2006/relationships/notesMaster" Target="/ppt/notesMasters/notesMaster1.xml" Id="R00ee379ceba843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para primaria alta y secundaria. Seleccione una ruta para profundizar. El recorrido no pretende cubrir todos los procesos de la historia de México.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Ubica Teotihuacan, Monte Albán y el área maya. Compara sus entornos y pregunta cómo podían intercambiar productos y conocimientos. El mapa actual sirve para orientarnos; sus fronteras no existían entonces.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ciudad deja huellas: edificios, cerámica, herramientas e inscripciones. Los investigadores comparan esas evidencias. Una pirámide, por sí sola, no permite identificar todos los aspectos de la vida cotidiana.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pueblos indígenas continúan formando parte del México actual. Hablar de sus ciudades antiguas no significa que sus descendientes hayan desaparecido.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INAH · Historia breve de Teotihuacan https://www.inah.gob.mx/boletines/historia-breve-de-teotihuacan</a:t>
            </a:r>
          </a:p>
          <a:p xmlns:a="http://schemas.openxmlformats.org/drawingml/2006/main">
            <a:r>
              <a:t>INAH · Museo Nacional de Antropología https://lugares.inah.gob.mx/es/node/4237</a:t>
            </a:r>
          </a:p>
          <a:p xmlns:a="http://schemas.openxmlformats.org/drawingml/2006/main">
            <a:r>
              <a:t>INAH · México, grandeza y diversidad, capítulo 19 https://mexicograndezaydiversidad.inah.gob.mx/publicacion/capitulo-19.html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1810 comenzó una insurrección contra el orden virreinal. El 16 de septiembre recuerda su inicio, no el nacimiento inmediato de un Estado ya organizado.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Morelos presentó los Sentimientos de la Nación en Chilpancingo en 1813. Planteó independencia y soberanía del pueblo, junto con medidas contra la esclavitud y las distinciones de castas.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1821 el Plan de Iguala impulsó otra alianza política y militar. La consumación abrió nuevas preguntas sobre cómo gobernar el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UNAM · Virginia Guedea, coordinación, La independencia y el proceso autonomista https://historicas.unam.mx/publicaciones/publicadigital/libros/385/independencia_autonomista.html</a:t>
            </a:r>
          </a:p>
          <a:p xmlns:a="http://schemas.openxmlformats.org/drawingml/2006/main">
            <a:r>
              <a:t>AGN · Los Sentimientos de la Nación en Apatzingán https://www.gob.mx/agn/articulos/rumboalcentenario-los-sentimientos-de-la-nacion-en-apatzingan?idiom=es</a:t>
            </a:r>
          </a:p>
          <a:p xmlns:a="http://schemas.openxmlformats.org/drawingml/2006/main">
            <a:r>
              <a:t>UNAM · La trigarancia https://historicas.unam.mx/publicaciones/publicadigital/libros/trigarancia/fuerzas_armadas.html</a:t>
            </a:r>
          </a:p>
          <a:p xmlns:a="http://schemas.openxmlformats.org/drawingml/2006/main">
            <a:r>
              <a:t>Secretaría de la Defensa Nacional · Sentimientos de la Nación https://www.gob.mx/defensa/documentos/14-de-septiembre-de-1813-jose-maria-morelos-redacta-los-sentimientos-de-la-nacion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Independizarse no resolvió automáticamente la organización del país. Había que decidir qué facultades tendría el gobierno nacional y cuáles conservarían los estados.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Constitución de 1824 estableció un sistema federal y la división de poderes. Las constituciones posteriores muestran que la forma de gobierno se debatió y cambió.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Constitución de 1857 es otro hito para estudiar derechos. Comparar textos ayuda a reconocer continuidades y cambios, sin suponer que una ley describe exactamente la vida cotidiana.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UNAM · Constitución de 1824 https://constitucion-1824.juridicas.unam.mx/</a:t>
            </a:r>
          </a:p>
          <a:p xmlns:a="http://schemas.openxmlformats.org/drawingml/2006/main">
            <a:r>
              <a:t>UNAM · Constituciones históricas https://museodelasconstituciones.unam.mx/constituciones-historicas/</a:t>
            </a:r>
          </a:p>
          <a:p xmlns:a="http://schemas.openxmlformats.org/drawingml/2006/main">
            <a:r>
              <a:t>AGN · Resguardo de la Constitución de 1857 https://www.gob.mx/agn/articulos/conoce-la-historia-de-como-agnmex-resguardo-la-antigua-constitucion-de-1857?idiom=es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Madero impulsó la lucha contra la reelección. Otros grupos reclamaban cambios en la propiedad de la tierra y en las condiciones de trabajo. Coincidir contra un gobierno no significaba compartir un único programa.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zapatismo y el villismo tuvieron bases regionales distintas. Para entenderlos conviene preguntar dónde actuaron, quiénes los apoyaron y qué exigían.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Constitución de 1917 incorporó disposiciones sociales. Comparar una demanda con una norma permite discutir la diferencia entre reconocer un derecho y hacerlo efectivo.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INEHRM · Revolución social https://inehrm.gob.mx/es/Constitucion1917/Revolucion_Social</a:t>
            </a:r>
          </a:p>
          <a:p xmlns:a="http://schemas.openxmlformats.org/drawingml/2006/main">
            <a:r>
              <a:t>INEHRM · Antología de lecturas, tomo II https://inehrm.gob.mx/recursos/Libros/Antologia_de_lecturas_200_t2.pdf</a:t>
            </a:r>
          </a:p>
          <a:p xmlns:a="http://schemas.openxmlformats.org/drawingml/2006/main">
            <a:r>
              <a:t>INEHRM · Corrientes revolucionarias, 1913–1917 https://inehrm.gob.mx/es/inehrm/ExpDigCorrietRev13-17</a:t>
            </a:r>
          </a:p>
          <a:p xmlns:a="http://schemas.openxmlformats.org/drawingml/2006/main">
            <a:r>
              <a:t>UNAM · Constituciones históricas https://museodelasconstituciones.unam.mx/constituciones-historicas/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Pregunte: ¿la promulgación de una ley significa que todos sus derechos se cumplen de inmediato? Fuentes: https://museodelasconstituciones.unam.mx/constituciones-historicas/ y https://inehrm.gob.mx/es/Constitucion1917/Revolucion_Social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Pida ejemplos de las fichas de Atlas. Una interpretación no significa una opinión sin evidencia. Los mitos tienen valor histórico como expresiones culturales. Fuentes de ejemplo: https://www.inah.gob.mx/boletines/historia-breve-de-teotihuacan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Actividad final: parejas, 10 minutos. Evaluación: referencia a una fuente, distinción entre hecho e interpretación y reconocimiento de una pregunta abierta. Archivo de consulta: https://memoricamexico.gob.mx/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364973f2043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544ca371d4b2b" /><Relationship Type="http://schemas.openxmlformats.org/officeDocument/2006/relationships/slideLayout" Target="/ppt/slideLayouts/slideLayout1.xml" Id="R16a94886acc94a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a94886acc94a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f35d6806e4e6c" /><Relationship Type="http://schemas.openxmlformats.org/officeDocument/2006/relationships/notesSlide" Target="/ppt/notesSlides/notesSlide1.xml" Id="Raeb26562e95246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bd938662a4393" /><Relationship Type="http://schemas.openxmlformats.org/officeDocument/2006/relationships/notesSlide" Target="/ppt/notesSlides/notesSlide2.xml" Id="Rc9ad42c38e594c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f91edb99848e8" /><Relationship Type="http://schemas.openxmlformats.org/officeDocument/2006/relationships/notesSlide" Target="/ppt/notesSlides/notesSlide3.xml" Id="R4dc5ba33de444d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f6d0def5d456b" /><Relationship Type="http://schemas.openxmlformats.org/officeDocument/2006/relationships/notesSlide" Target="/ppt/notesSlides/notesSlide4.xml" Id="Refad6552f85140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6b88686874574" /><Relationship Type="http://schemas.openxmlformats.org/officeDocument/2006/relationships/notesSlide" Target="/ppt/notesSlides/notesSlide5.xml" Id="Rf2e7a93ce15543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8e7954a124cc6" /><Relationship Type="http://schemas.openxmlformats.org/officeDocument/2006/relationships/notesSlide" Target="/ppt/notesSlides/notesSlide6.xml" Id="Rbbfeff4f48844b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044b9329142fe" /><Relationship Type="http://schemas.openxmlformats.org/officeDocument/2006/relationships/notesSlide" Target="/ppt/notesSlides/notesSlide7.xml" Id="R31021db6eddd41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73024c3004a38" /><Relationship Type="http://schemas.openxmlformats.org/officeDocument/2006/relationships/notesSlide" Target="/ppt/notesSlides/notesSlide8.xml" Id="R8f4a6c532ee446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2CC3C-1095-4ECD-BD5E-43180E0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A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AF1"/>
                </a:solidFill>
                <a:latin typeface="Bitstream Charter"/>
                <a:ea typeface="Bitstream Charter"/>
                <a:cs typeface="Bitstream Charter"/>
              </a:rPr>
              <a:t>México: historias que se conectan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7F1B7-80F1-4338-A82C-FCD03D7B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rPr>
              <a:t>Ciudades, independencia, construcción de la nación y revolución.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rPr>
              <a:t>Pregunta para comenzar: ¿cómo cambia nuestra explicación cuando consultamos una fuente?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8ECAD-F366-40F5-965A-50337AA8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9B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99B52"/>
                </a:solidFill>
                <a:latin typeface="Bitstream Charter"/>
                <a:ea typeface="Bitstream Charter"/>
                <a:cs typeface="Bitstream Charter"/>
              </a:rPr>
              <a:t>Atlas del Tiempo · Historia para el aula</a:t>
            </a:r>
          </a:p>
        </p:txBody>
      </p:sp>
    </p:spTree>
    <p:extLst>
      <p:ext uri="{BB962C8B-B14F-4D97-AF65-F5344CB8AC3E}">
        <p14:creationId xmlns:p14="http://schemas.microsoft.com/office/powerpoint/2010/main" val="2021498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4727C-7965-43D6-8245-538D0DE4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rPr>
              <a:t>Culturas mesoamericanas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20312-9BF5-466A-99E6-78876A35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¿Cómo sabemos que Mesoamérica reunió sociedades diferentes?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Mesoamérica es una región cultural: sus sociedades compartieron prácticas, pero tuvieron lenguas, gobiernos e historias diferentes. Teotihuacan, los señoríos mayas y los mexicas no fueron una sola civilización ni alcanzaron su mayor desarrollo al mismo tiempo.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4E8D7-8C74-44BE-AC1C-C4732AB7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rPr>
              <a:t>Atlas del Tiempo · Historia para el aula</a:t>
            </a:r>
          </a:p>
        </p:txBody>
      </p:sp>
    </p:spTree>
    <p:extLst>
      <p:ext uri="{BB962C8B-B14F-4D97-AF65-F5344CB8AC3E}">
        <p14:creationId xmlns:p14="http://schemas.microsoft.com/office/powerpoint/2010/main" val="1182608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9AC45-A2F5-4B1B-B849-8F9B04B4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rPr>
              <a:t>Independencia de México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4183D-AF35-440A-AEE4-86E3E908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¿Por qué comenzar una lucha no equivale a terminarla?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La independencia fue un proceso prolongado. La insurgencia comenzó en 1810; Morelos formuló un proyecto político en 1813 y la consumación ocurrió en 1821. Los participantes no defendieron siempre los mismos intereses ni las mismas formas de gobierno.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B13BD-2610-4063-B90E-BD634AFD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rPr>
              <a:t>Atlas del Tiempo · Historia para el aula</a:t>
            </a:r>
          </a:p>
        </p:txBody>
      </p:sp>
    </p:spTree>
    <p:extLst>
      <p:ext uri="{BB962C8B-B14F-4D97-AF65-F5344CB8AC3E}">
        <p14:creationId xmlns:p14="http://schemas.microsoft.com/office/powerpoint/2010/main" val="1489571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8403F-7E9F-40D7-8A99-D44AA33E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rPr>
              <a:t>México se organiza como nación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2DB2B-860C-4DAD-88C5-A61A554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¿Qué decisiones necesita tomar un país después de independizarse?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Después de la independencia se discutió cómo organizar el gobierno y distribuir el poder. La Constitución de 1824 estableció una república federal. En el siglo XIX hubo cambios entre proyectos federales y centralistas, y nuevas disputas sobre derechos e instituciones.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0F5D0-424A-4E24-A4CA-903CF7A2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rPr>
              <a:t>Atlas del Tiempo · Historia para el aula</a:t>
            </a:r>
          </a:p>
        </p:txBody>
      </p:sp>
    </p:spTree>
    <p:extLst>
      <p:ext uri="{BB962C8B-B14F-4D97-AF65-F5344CB8AC3E}">
        <p14:creationId xmlns:p14="http://schemas.microsoft.com/office/powerpoint/2010/main" val="708667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6C37A-4E4D-4557-9083-6FE876EC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rPr>
              <a:t>Revolución Mexicana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D6CD2-6FF0-43A4-B871-11B8B269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¿Por qué una revolución puede reunir proyectos diferentes?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La Revolución comenzó en 1910 en un contexto de concentración del poder y desigualdad. Incluyó movimientos con demandas diferentes: democracia, tierra y derechos laborales. La Constitución de 1917 fue un resultado decisivo, pero no eliminó de inmediato los conflictos.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33152-9BDB-44BC-8176-83C537DB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rPr>
              <a:t>Atlas del Tiempo · Historia para el aula</a:t>
            </a:r>
          </a:p>
        </p:txBody>
      </p:sp>
    </p:spTree>
    <p:extLst>
      <p:ext uri="{BB962C8B-B14F-4D97-AF65-F5344CB8AC3E}">
        <p14:creationId xmlns:p14="http://schemas.microsoft.com/office/powerpoint/2010/main" val="391610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249B1-D6B6-46A3-AE3C-0E31B616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rPr>
              <a:t>Una fecha abre una pregunta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10941-BDBD-411A-A5D7-C61F5379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1810 · Comienza la insurgencia.</a:t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1821 · Se consuma la independencia.</a:t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1824 · Se establece una Constitución federal.</a:t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1910 · Comienza el movimiento revolucionario.</a:t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1917 · Se promulga una nueva Constitución.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32712-63D6-4DC0-8F2F-57CE9AC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rPr>
              <a:t>Atlas del Tiempo · Historia para el aula</a:t>
            </a:r>
          </a:p>
        </p:txBody>
      </p:sp>
    </p:spTree>
    <p:extLst>
      <p:ext uri="{BB962C8B-B14F-4D97-AF65-F5344CB8AC3E}">
        <p14:creationId xmlns:p14="http://schemas.microsoft.com/office/powerpoint/2010/main" val="2020558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F6580-DB39-441F-8C1E-146C5620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62B2F"/>
                </a:solidFill>
                <a:latin typeface="Bitstream Charter"/>
                <a:ea typeface="Bitstream Charter"/>
                <a:cs typeface="Bitstream Charter"/>
              </a:rPr>
              <a:t>No todas las afirmaciones son iguales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B5333-B2DF-4F36-903B-2972BB53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Hecho documentado: se sostiene con evidencias contrastables.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Interpretación: propone una explicación de las evidencias.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355155"/>
                </a:solidFill>
                <a:latin typeface="Bitstream Charter"/>
                <a:ea typeface="Bitstream Charter"/>
                <a:cs typeface="Bitstream Charter"/>
              </a:rPr>
              <a:t>Tradición o mito: expresa una memoria o creencia; no equivale por sí sola a una crónica literal.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22469-88A7-4DD9-941F-37E33152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95F40"/>
                </a:solidFill>
                <a:latin typeface="Bitstream Charter"/>
                <a:ea typeface="Bitstream Charter"/>
                <a:cs typeface="Bitstream Charter"/>
              </a:rPr>
              <a:t>Atlas del Tiempo · Historia para el aula</a:t>
            </a:r>
          </a:p>
        </p:txBody>
      </p:sp>
    </p:spTree>
    <p:extLst>
      <p:ext uri="{BB962C8B-B14F-4D97-AF65-F5344CB8AC3E}">
        <p14:creationId xmlns:p14="http://schemas.microsoft.com/office/powerpoint/2010/main" val="1607031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2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E1A5D-E838-4727-B149-0AD7F7DE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A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AF1"/>
                </a:solidFill>
                <a:latin typeface="Bitstream Charter"/>
                <a:ea typeface="Bitstream Charter"/>
                <a:cs typeface="Bitstream Charter"/>
              </a:rPr>
              <a:t>Tu comunidad también tiene historia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0A865-726E-40E8-AD44-220922FC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rPr>
              <a:t>Elige un lugar, una fotografía o un testimonio.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rPr>
              <a:t>Registra quién lo produjo, cuándo y para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rPr>
              <a:t>Contrástalo con otra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EFE5D3"/>
                </a:solidFill>
                <a:latin typeface="Bitstream Charter"/>
                <a:ea typeface="Bitstream Charter"/>
                <a:cs typeface="Bitstream Charter"/>
              </a:rPr>
              <a:t>Comparte una conclusión y una pregunta que siga abierta.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5E2EB-49F8-4F9A-B18A-95DCE25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9B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99B52"/>
                </a:solidFill>
                <a:latin typeface="Bitstream Charter"/>
                <a:ea typeface="Bitstream Charter"/>
                <a:cs typeface="Bitstream Charter"/>
              </a:rPr>
              <a:t>Atlas del Tiempo · Historia para el aula</a:t>
            </a:r>
          </a:p>
        </p:txBody>
      </p:sp>
    </p:spTree>
    <p:extLst>
      <p:ext uri="{BB962C8B-B14F-4D97-AF65-F5344CB8AC3E}">
        <p14:creationId xmlns:p14="http://schemas.microsoft.com/office/powerpoint/2010/main" val="1488377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2026-09-28T20:43:59.3940000Z</dcterms:created>
  <dcterms:modified xsi:type="dcterms:W3CDTF">2026-09-28T20:43:59.3950000Z</dcterms:modified>
</coreProperties>
</file>